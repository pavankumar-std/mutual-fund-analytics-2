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63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/>
              <a:t>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567891" y="1482291"/>
            <a:ext cx="8706111" cy="4559071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Bluestock</a:t>
            </a:r>
            <a:r>
              <a:rPr lang="en-US" sz="2000" b="1" dirty="0"/>
              <a:t> Fintech Capstone </a:t>
            </a:r>
            <a:r>
              <a:rPr lang="en-US" sz="2000" b="1" dirty="0" smtClean="0"/>
              <a:t>Project</a:t>
            </a:r>
            <a:endParaRPr lang="en-US" sz="2000" dirty="0"/>
          </a:p>
          <a:p>
            <a:r>
              <a:rPr lang="en-US" sz="2000" dirty="0" smtClean="0"/>
              <a:t>Submitted </a:t>
            </a:r>
            <a:r>
              <a:rPr lang="en-US" sz="2000" dirty="0"/>
              <a:t>By:</a:t>
            </a:r>
            <a:br>
              <a:rPr lang="en-US" sz="2000" dirty="0"/>
            </a:br>
            <a:r>
              <a:rPr lang="en-US" sz="2000" b="1" dirty="0" err="1"/>
              <a:t>Pavan</a:t>
            </a:r>
            <a:r>
              <a:rPr lang="en-US" sz="2000" b="1" dirty="0"/>
              <a:t> Kumar </a:t>
            </a:r>
            <a:r>
              <a:rPr lang="en-US" sz="2000" b="1" dirty="0" err="1"/>
              <a:t>Katkuri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 err="1"/>
              <a:t>Bluestock</a:t>
            </a:r>
            <a:r>
              <a:rPr lang="en-US" sz="2000" dirty="0"/>
              <a:t> Fintech Internship</a:t>
            </a:r>
            <a:br>
              <a:rPr lang="en-US" sz="2000" dirty="0"/>
            </a:br>
            <a:r>
              <a:rPr lang="en-US" sz="200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2191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387" y="1501541"/>
            <a:ext cx="8821615" cy="453982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Investors face challenges in:</a:t>
            </a:r>
          </a:p>
          <a:p>
            <a:r>
              <a:rPr lang="en-US" dirty="0"/>
              <a:t>Selecting suitable mutual funds. </a:t>
            </a:r>
          </a:p>
          <a:p>
            <a:r>
              <a:rPr lang="en-US" dirty="0"/>
              <a:t>Understanding risk and return. </a:t>
            </a:r>
          </a:p>
          <a:p>
            <a:r>
              <a:rPr lang="en-US" dirty="0"/>
              <a:t>Tracking SIP growth. </a:t>
            </a:r>
          </a:p>
          <a:p>
            <a:r>
              <a:rPr lang="en-US" dirty="0"/>
              <a:t>Comparing fund performance. </a:t>
            </a:r>
          </a:p>
          <a:p>
            <a:r>
              <a:rPr lang="en-US" b="1" dirty="0"/>
              <a:t>Objectives</a:t>
            </a:r>
          </a:p>
          <a:p>
            <a:r>
              <a:rPr lang="en-US" dirty="0"/>
              <a:t>Data Cleaning </a:t>
            </a:r>
          </a:p>
          <a:p>
            <a:r>
              <a:rPr lang="en-US" dirty="0"/>
              <a:t>Performance Analysis </a:t>
            </a:r>
          </a:p>
          <a:p>
            <a:r>
              <a:rPr lang="en-US" dirty="0"/>
              <a:t>Risk Analysis </a:t>
            </a:r>
          </a:p>
          <a:p>
            <a:r>
              <a:rPr lang="en-US" dirty="0"/>
              <a:t>Dashboard Development </a:t>
            </a:r>
          </a:p>
          <a:p>
            <a:r>
              <a:rPr lang="en-US" dirty="0"/>
              <a:t>Investor Analytics</a:t>
            </a:r>
          </a:p>
        </p:txBody>
      </p:sp>
    </p:spTree>
    <p:extLst>
      <p:ext uri="{BB962C8B-B14F-4D97-AF65-F5344CB8AC3E}">
        <p14:creationId xmlns:p14="http://schemas.microsoft.com/office/powerpoint/2010/main" val="1079519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015" y="1645921"/>
            <a:ext cx="8734987" cy="4395442"/>
          </a:xfrm>
        </p:spPr>
        <p:txBody>
          <a:bodyPr>
            <a:normAutofit/>
          </a:bodyPr>
          <a:lstStyle/>
          <a:p>
            <a:r>
              <a:rPr lang="en-IN" b="1" dirty="0"/>
              <a:t>Datasets Used</a:t>
            </a:r>
          </a:p>
          <a:p>
            <a:r>
              <a:rPr lang="en-IN" dirty="0"/>
              <a:t>Fund Master Data </a:t>
            </a:r>
          </a:p>
          <a:p>
            <a:r>
              <a:rPr lang="en-IN" dirty="0"/>
              <a:t>NAV History </a:t>
            </a:r>
          </a:p>
          <a:p>
            <a:r>
              <a:rPr lang="en-IN" dirty="0"/>
              <a:t>AUM Data </a:t>
            </a:r>
          </a:p>
          <a:p>
            <a:r>
              <a:rPr lang="en-IN" dirty="0"/>
              <a:t>SIP Inflows </a:t>
            </a:r>
          </a:p>
          <a:p>
            <a:r>
              <a:rPr lang="en-IN" dirty="0"/>
              <a:t>Investor Transactions </a:t>
            </a:r>
          </a:p>
          <a:p>
            <a:r>
              <a:rPr lang="en-IN" dirty="0"/>
              <a:t>Portfolio Holdings </a:t>
            </a:r>
          </a:p>
          <a:p>
            <a:r>
              <a:rPr lang="en-IN" dirty="0"/>
              <a:t>Benchmark Indices </a:t>
            </a:r>
          </a:p>
          <a:p>
            <a:r>
              <a:rPr lang="en-IN" b="1" dirty="0"/>
              <a:t>Total Datasets: 10</a:t>
            </a:r>
          </a:p>
          <a:p>
            <a:r>
              <a:rPr lang="en-IN" b="1" dirty="0"/>
              <a:t>Period:</a:t>
            </a:r>
          </a:p>
          <a:p>
            <a:r>
              <a:rPr lang="en-IN" dirty="0"/>
              <a:t>2022–2026</a:t>
            </a:r>
          </a:p>
        </p:txBody>
      </p:sp>
    </p:spTree>
    <p:extLst>
      <p:ext uri="{BB962C8B-B14F-4D97-AF65-F5344CB8AC3E}">
        <p14:creationId xmlns:p14="http://schemas.microsoft.com/office/powerpoint/2010/main" val="254149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015" y="1568919"/>
            <a:ext cx="8734987" cy="4472444"/>
          </a:xfrm>
        </p:spPr>
        <p:txBody>
          <a:bodyPr/>
          <a:lstStyle/>
          <a:p>
            <a:r>
              <a:rPr lang="en-US" b="1" dirty="0"/>
              <a:t>Project Workflow</a:t>
            </a:r>
          </a:p>
          <a:p>
            <a:r>
              <a:rPr lang="en-US" dirty="0"/>
              <a:t>Data Collection </a:t>
            </a:r>
          </a:p>
          <a:p>
            <a:r>
              <a:rPr lang="en-US" dirty="0"/>
              <a:t>Data Cleaning </a:t>
            </a:r>
          </a:p>
          <a:p>
            <a:r>
              <a:rPr lang="en-US" dirty="0"/>
              <a:t>SQLite Database </a:t>
            </a:r>
          </a:p>
          <a:p>
            <a:r>
              <a:rPr lang="en-US" dirty="0"/>
              <a:t>EDA Analysis </a:t>
            </a:r>
          </a:p>
          <a:p>
            <a:r>
              <a:rPr lang="en-US" dirty="0"/>
              <a:t>Performance Analytics </a:t>
            </a:r>
          </a:p>
          <a:p>
            <a:r>
              <a:rPr lang="en-US" dirty="0"/>
              <a:t>Advanced Analytics </a:t>
            </a:r>
          </a:p>
          <a:p>
            <a:r>
              <a:rPr lang="en-US" dirty="0"/>
              <a:t>Power BI Dashboard </a:t>
            </a:r>
          </a:p>
          <a:p>
            <a:r>
              <a:rPr lang="en-US" dirty="0"/>
              <a:t>Final Reporting</a:t>
            </a:r>
          </a:p>
        </p:txBody>
      </p:sp>
    </p:spTree>
    <p:extLst>
      <p:ext uri="{BB962C8B-B14F-4D97-AF65-F5344CB8AC3E}">
        <p14:creationId xmlns:p14="http://schemas.microsoft.com/office/powerpoint/2010/main" val="216874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64" y="1386039"/>
            <a:ext cx="8754238" cy="4655324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EDA Highlights</a:t>
            </a:r>
          </a:p>
          <a:p>
            <a:r>
              <a:rPr lang="en-IN" dirty="0"/>
              <a:t>NAV trend analysis </a:t>
            </a:r>
          </a:p>
          <a:p>
            <a:r>
              <a:rPr lang="en-IN" dirty="0"/>
              <a:t>SIP inflow analysis </a:t>
            </a:r>
          </a:p>
          <a:p>
            <a:r>
              <a:rPr lang="en-IN" dirty="0"/>
              <a:t>AUM growth analysis </a:t>
            </a:r>
          </a:p>
          <a:p>
            <a:r>
              <a:rPr lang="en-IN" dirty="0"/>
              <a:t>Investor demographics </a:t>
            </a:r>
          </a:p>
          <a:p>
            <a:r>
              <a:rPr lang="en-IN" dirty="0"/>
              <a:t>Category inflows </a:t>
            </a:r>
          </a:p>
          <a:p>
            <a:r>
              <a:rPr lang="en-IN" dirty="0"/>
              <a:t>Geographic distribution </a:t>
            </a:r>
          </a:p>
          <a:p>
            <a:r>
              <a:rPr lang="en-IN" b="1" dirty="0"/>
              <a:t>Charts Created:</a:t>
            </a:r>
          </a:p>
          <a:p>
            <a:r>
              <a:rPr lang="en-IN" dirty="0"/>
              <a:t>15+ visualizations</a:t>
            </a:r>
          </a:p>
          <a:p>
            <a:r>
              <a:rPr lang="en-IN" dirty="0"/>
              <a:t>Insert:</a:t>
            </a:r>
          </a:p>
          <a:p>
            <a:r>
              <a:rPr lang="en-IN" dirty="0"/>
              <a:t>NAV chart </a:t>
            </a:r>
          </a:p>
          <a:p>
            <a:r>
              <a:rPr lang="en-IN" dirty="0"/>
              <a:t>SIP chart </a:t>
            </a:r>
          </a:p>
        </p:txBody>
      </p:sp>
    </p:spTree>
    <p:extLst>
      <p:ext uri="{BB962C8B-B14F-4D97-AF65-F5344CB8AC3E}">
        <p14:creationId xmlns:p14="http://schemas.microsoft.com/office/powerpoint/2010/main" val="234062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265" y="1472665"/>
            <a:ext cx="8715737" cy="4568697"/>
          </a:xfrm>
        </p:spPr>
        <p:txBody>
          <a:bodyPr/>
          <a:lstStyle/>
          <a:p>
            <a:r>
              <a:rPr lang="en-US" b="1" dirty="0"/>
              <a:t>Important Findings</a:t>
            </a:r>
          </a:p>
          <a:p>
            <a:r>
              <a:rPr lang="en-US" dirty="0"/>
              <a:t>SIP inflows increased significantly. </a:t>
            </a:r>
          </a:p>
          <a:p>
            <a:r>
              <a:rPr lang="en-US" dirty="0"/>
              <a:t>Equity funds generated higher returns. </a:t>
            </a:r>
          </a:p>
          <a:p>
            <a:r>
              <a:rPr lang="en-US" dirty="0"/>
              <a:t>Younger investors preferred SIP investments. </a:t>
            </a:r>
          </a:p>
          <a:p>
            <a:r>
              <a:rPr lang="en-US" dirty="0"/>
              <a:t>Large fund houses dominated AUM. </a:t>
            </a:r>
          </a:p>
          <a:p>
            <a:r>
              <a:rPr lang="en-US" dirty="0"/>
              <a:t>Investor behavior varied across states. </a:t>
            </a:r>
          </a:p>
          <a:p>
            <a:r>
              <a:rPr lang="en-US" dirty="0"/>
              <a:t>Insert:</a:t>
            </a:r>
          </a:p>
          <a:p>
            <a:r>
              <a:rPr lang="en-US" dirty="0" err="1"/>
              <a:t>Heatmap</a:t>
            </a:r>
            <a:r>
              <a:rPr lang="en-US" dirty="0"/>
              <a:t> </a:t>
            </a:r>
          </a:p>
          <a:p>
            <a:r>
              <a:rPr lang="en-US" dirty="0"/>
              <a:t>AUM chart</a:t>
            </a:r>
          </a:p>
        </p:txBody>
      </p:sp>
    </p:spTree>
    <p:extLst>
      <p:ext uri="{BB962C8B-B14F-4D97-AF65-F5344CB8AC3E}">
        <p14:creationId xmlns:p14="http://schemas.microsoft.com/office/powerpoint/2010/main" val="419390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389" y="1472665"/>
            <a:ext cx="8744613" cy="4568697"/>
          </a:xfrm>
        </p:spPr>
        <p:txBody>
          <a:bodyPr>
            <a:normAutofit/>
          </a:bodyPr>
          <a:lstStyle/>
          <a:p>
            <a:r>
              <a:rPr lang="en-IN" b="1" dirty="0"/>
              <a:t>Metrics Calculated</a:t>
            </a:r>
          </a:p>
          <a:p>
            <a:r>
              <a:rPr lang="en-IN" dirty="0"/>
              <a:t>Annual Return </a:t>
            </a:r>
          </a:p>
          <a:p>
            <a:r>
              <a:rPr lang="en-IN" dirty="0"/>
              <a:t>CAGR </a:t>
            </a:r>
          </a:p>
          <a:p>
            <a:r>
              <a:rPr lang="en-IN" dirty="0"/>
              <a:t>Sharpe Ratio </a:t>
            </a:r>
          </a:p>
          <a:p>
            <a:r>
              <a:rPr lang="en-IN" dirty="0" err="1"/>
              <a:t>Sortino</a:t>
            </a:r>
            <a:r>
              <a:rPr lang="en-IN" dirty="0"/>
              <a:t> Ratio </a:t>
            </a:r>
          </a:p>
          <a:p>
            <a:r>
              <a:rPr lang="en-IN" dirty="0"/>
              <a:t>Alpha </a:t>
            </a:r>
          </a:p>
          <a:p>
            <a:r>
              <a:rPr lang="en-IN" dirty="0"/>
              <a:t>Beta </a:t>
            </a:r>
          </a:p>
          <a:p>
            <a:r>
              <a:rPr lang="en-IN" dirty="0"/>
              <a:t>Maximum Drawdown </a:t>
            </a:r>
          </a:p>
          <a:p>
            <a:r>
              <a:rPr lang="en-IN" b="1" dirty="0"/>
              <a:t>Total Funds </a:t>
            </a:r>
            <a:r>
              <a:rPr lang="en-IN" b="1" dirty="0" err="1"/>
              <a:t>Analyzed</a:t>
            </a:r>
            <a:r>
              <a:rPr lang="en-IN" b="1" dirty="0"/>
              <a:t>:</a:t>
            </a:r>
          </a:p>
          <a:p>
            <a:r>
              <a:rPr lang="en-IN" dirty="0" smtClean="0"/>
              <a:t>40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02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139" y="1511167"/>
            <a:ext cx="8763863" cy="4530196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Advanced Analytics</a:t>
            </a:r>
          </a:p>
          <a:p>
            <a:r>
              <a:rPr lang="en-IN" dirty="0"/>
              <a:t>Value at Risk (</a:t>
            </a:r>
            <a:r>
              <a:rPr lang="en-IN" dirty="0" err="1"/>
              <a:t>VaR</a:t>
            </a:r>
            <a:r>
              <a:rPr lang="en-IN" dirty="0"/>
              <a:t>) </a:t>
            </a:r>
          </a:p>
          <a:p>
            <a:r>
              <a:rPr lang="en-IN" dirty="0"/>
              <a:t>Conditional </a:t>
            </a:r>
            <a:r>
              <a:rPr lang="en-IN" dirty="0" err="1"/>
              <a:t>VaR</a:t>
            </a:r>
            <a:r>
              <a:rPr lang="en-IN" dirty="0"/>
              <a:t> </a:t>
            </a:r>
          </a:p>
          <a:p>
            <a:r>
              <a:rPr lang="en-IN" dirty="0"/>
              <a:t>Rolling Sharpe Ratio </a:t>
            </a:r>
          </a:p>
          <a:p>
            <a:r>
              <a:rPr lang="en-IN" dirty="0"/>
              <a:t>Sector Concentration </a:t>
            </a:r>
          </a:p>
          <a:p>
            <a:r>
              <a:rPr lang="en-IN" dirty="0"/>
              <a:t>SIP Continuity Analysis </a:t>
            </a:r>
          </a:p>
          <a:p>
            <a:r>
              <a:rPr lang="en-IN" b="1" dirty="0"/>
              <a:t>Risk Management Insights:</a:t>
            </a:r>
          </a:p>
          <a:p>
            <a:r>
              <a:rPr lang="en-IN" dirty="0"/>
              <a:t>High-risk funds identified. </a:t>
            </a:r>
          </a:p>
          <a:p>
            <a:r>
              <a:rPr lang="en-IN" dirty="0"/>
              <a:t>Downside risk measured. </a:t>
            </a:r>
          </a:p>
          <a:p>
            <a:r>
              <a:rPr lang="en-IN" dirty="0"/>
              <a:t>Insert:</a:t>
            </a:r>
          </a:p>
          <a:p>
            <a:r>
              <a:rPr lang="en-IN" dirty="0"/>
              <a:t>Rolling Sharpe chart </a:t>
            </a:r>
          </a:p>
          <a:p>
            <a:r>
              <a:rPr lang="en-IN" dirty="0" err="1"/>
              <a:t>VaR</a:t>
            </a:r>
            <a:r>
              <a:rPr lang="en-IN" dirty="0"/>
              <a:t> chart</a:t>
            </a:r>
          </a:p>
        </p:txBody>
      </p:sp>
    </p:spTree>
    <p:extLst>
      <p:ext uri="{BB962C8B-B14F-4D97-AF65-F5344CB8AC3E}">
        <p14:creationId xmlns:p14="http://schemas.microsoft.com/office/powerpoint/2010/main" val="36854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– 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64" y="1328287"/>
            <a:ext cx="8754238" cy="4713076"/>
          </a:xfrm>
        </p:spPr>
        <p:txBody>
          <a:bodyPr>
            <a:normAutofit/>
          </a:bodyPr>
          <a:lstStyle/>
          <a:p>
            <a:r>
              <a:rPr lang="en-US" b="1" dirty="0"/>
              <a:t>Power BI Dashboard</a:t>
            </a:r>
          </a:p>
          <a:p>
            <a:r>
              <a:rPr lang="en-US" b="1" dirty="0"/>
              <a:t>Page 1:</a:t>
            </a:r>
          </a:p>
          <a:p>
            <a:r>
              <a:rPr lang="en-US" dirty="0"/>
              <a:t>Total AUM </a:t>
            </a:r>
          </a:p>
          <a:p>
            <a:r>
              <a:rPr lang="en-US" dirty="0"/>
              <a:t>SIP Inflows </a:t>
            </a:r>
          </a:p>
          <a:p>
            <a:r>
              <a:rPr lang="en-US" dirty="0"/>
              <a:t>Fund Houses </a:t>
            </a:r>
          </a:p>
          <a:p>
            <a:r>
              <a:rPr lang="en-US" dirty="0"/>
              <a:t>Industry Growth </a:t>
            </a:r>
          </a:p>
          <a:p>
            <a:r>
              <a:rPr lang="en-US" b="1" dirty="0"/>
              <a:t>Page 2:</a:t>
            </a:r>
          </a:p>
          <a:p>
            <a:r>
              <a:rPr lang="en-US" dirty="0"/>
              <a:t>Fund Performance </a:t>
            </a:r>
          </a:p>
          <a:p>
            <a:r>
              <a:rPr lang="en-US" dirty="0"/>
              <a:t>Risk vs Return </a:t>
            </a:r>
          </a:p>
          <a:p>
            <a:r>
              <a:rPr lang="en-US" dirty="0"/>
              <a:t>Fund Rankings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342" y="1913407"/>
            <a:ext cx="5159142" cy="20636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330343" y="4253434"/>
            <a:ext cx="5245766" cy="203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02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– Investor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389" y="1222409"/>
            <a:ext cx="8744613" cy="4818954"/>
          </a:xfrm>
        </p:spPr>
        <p:txBody>
          <a:bodyPr/>
          <a:lstStyle/>
          <a:p>
            <a:r>
              <a:rPr lang="en-IN" b="1" dirty="0"/>
              <a:t>Dashboard Pages</a:t>
            </a:r>
          </a:p>
          <a:p>
            <a:r>
              <a:rPr lang="en-IN" b="1" dirty="0"/>
              <a:t>Page 3:</a:t>
            </a:r>
          </a:p>
          <a:p>
            <a:r>
              <a:rPr lang="en-IN" dirty="0"/>
              <a:t>Investor Analysis </a:t>
            </a:r>
          </a:p>
          <a:p>
            <a:r>
              <a:rPr lang="en-IN" dirty="0"/>
              <a:t>Geographic Distribution </a:t>
            </a:r>
          </a:p>
          <a:p>
            <a:r>
              <a:rPr lang="en-IN" dirty="0"/>
              <a:t>Transaction Analysis </a:t>
            </a:r>
          </a:p>
          <a:p>
            <a:r>
              <a:rPr lang="en-IN" b="1" dirty="0"/>
              <a:t>Page 4:</a:t>
            </a:r>
          </a:p>
          <a:p>
            <a:r>
              <a:rPr lang="en-IN" dirty="0"/>
              <a:t>SIP Trends </a:t>
            </a:r>
          </a:p>
          <a:p>
            <a:r>
              <a:rPr lang="en-IN" dirty="0"/>
              <a:t>Market Analysis </a:t>
            </a:r>
          </a:p>
          <a:p>
            <a:r>
              <a:rPr lang="en-IN" dirty="0"/>
              <a:t>Category Inflows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50" y="1222409"/>
            <a:ext cx="5594434" cy="22295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50" y="3591849"/>
            <a:ext cx="5502452" cy="249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82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" y="1337913"/>
            <a:ext cx="8783114" cy="470345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Key Findings</a:t>
            </a:r>
          </a:p>
          <a:p>
            <a:r>
              <a:rPr lang="en-IN" dirty="0"/>
              <a:t>SIP investments are increasing. </a:t>
            </a:r>
          </a:p>
          <a:p>
            <a:r>
              <a:rPr lang="en-IN" dirty="0"/>
              <a:t>Risk-adjusted returns differ across funds. </a:t>
            </a:r>
          </a:p>
          <a:p>
            <a:r>
              <a:rPr lang="en-IN" dirty="0"/>
              <a:t>Portfolio diversification reduces risk. </a:t>
            </a:r>
          </a:p>
          <a:p>
            <a:r>
              <a:rPr lang="en-IN" dirty="0"/>
              <a:t>Market corrections impact fund performance. </a:t>
            </a:r>
          </a:p>
          <a:p>
            <a:r>
              <a:rPr lang="en-IN" b="1" dirty="0"/>
              <a:t>Learnings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SQL </a:t>
            </a:r>
          </a:p>
          <a:p>
            <a:r>
              <a:rPr lang="en-IN" dirty="0"/>
              <a:t>SQLite </a:t>
            </a:r>
          </a:p>
          <a:p>
            <a:r>
              <a:rPr lang="en-IN" dirty="0"/>
              <a:t>Power BI </a:t>
            </a:r>
          </a:p>
          <a:p>
            <a:r>
              <a:rPr lang="en-IN" dirty="0"/>
              <a:t>Git &amp; GitHub </a:t>
            </a:r>
          </a:p>
        </p:txBody>
      </p:sp>
    </p:spTree>
    <p:extLst>
      <p:ext uri="{BB962C8B-B14F-4D97-AF65-F5344CB8AC3E}">
        <p14:creationId xmlns:p14="http://schemas.microsoft.com/office/powerpoint/2010/main" val="864818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600" b="1" dirty="0"/>
              <a:t>Thank You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40633" y="1843361"/>
            <a:ext cx="9153624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Pavan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Kumar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Katkuri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Email:pavankumarkatkuri204@gmail.com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GitHub: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github.com/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Pavankumar-std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277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325</Words>
  <Application>Microsoft Office PowerPoint</Application>
  <PresentationFormat>Widescreen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Unicode MS</vt:lpstr>
      <vt:lpstr>Trebuchet MS</vt:lpstr>
      <vt:lpstr>Wingdings 3</vt:lpstr>
      <vt:lpstr>Facet</vt:lpstr>
      <vt:lpstr>MUTUAL FUND ANALYTICS PLATFORM</vt:lpstr>
      <vt:lpstr>Problem Statement &amp; Objectives</vt:lpstr>
      <vt:lpstr>Data Sources</vt:lpstr>
      <vt:lpstr>Project Architecture</vt:lpstr>
      <vt:lpstr>Exploratory Data Analysis</vt:lpstr>
      <vt:lpstr>Key EDA Findings</vt:lpstr>
      <vt:lpstr>Performance Analytics</vt:lpstr>
      <vt:lpstr>Risk Analysis</vt:lpstr>
      <vt:lpstr>Dashboard – Industry Overview</vt:lpstr>
      <vt:lpstr>Dashboard – Investor Analytics</vt:lpstr>
      <vt:lpstr>Key Findings &amp; Learnings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creator>User</dc:creator>
  <cp:lastModifiedBy>User</cp:lastModifiedBy>
  <cp:revision>3</cp:revision>
  <dcterms:created xsi:type="dcterms:W3CDTF">2026-06-28T06:25:51Z</dcterms:created>
  <dcterms:modified xsi:type="dcterms:W3CDTF">2026-06-28T06:50:06Z</dcterms:modified>
</cp:coreProperties>
</file>